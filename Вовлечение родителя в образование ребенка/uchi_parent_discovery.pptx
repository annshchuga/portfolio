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7203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7203A"/>
                </a:solidFill>
                <a:latin typeface="Calibri"/>
              </a:rPr>
              <a:t>Доля входов по часам, %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Родитель</c:v>
                </c:pt>
              </c:strCache>
            </c:strRef>
          </c:tx>
          <c:spPr>
            <a:solidFill>
              <a:srgbClr val="2A4BA0"/>
            </a:solidFill>
            <a:ln w="31750" cap="flat">
              <a:solidFill>
                <a:srgbClr val="2A4B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4BA0"/>
              </a:solidFill>
              <a:ln w="9525" cap="flat">
                <a:solidFill>
                  <a:srgbClr val="2A4B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7</c:v>
                  </c:pt>
                  <c:pt idx="1">
                    <c:v>8</c:v>
                  </c:pt>
                  <c:pt idx="2">
                    <c:v>9</c:v>
                  </c:pt>
                  <c:pt idx="3">
                    <c:v>10</c:v>
                  </c:pt>
                  <c:pt idx="4">
                    <c:v>11</c:v>
                  </c:pt>
                  <c:pt idx="5">
                    <c:v>12</c:v>
                  </c:pt>
                  <c:pt idx="6">
                    <c:v>13</c:v>
                  </c:pt>
                  <c:pt idx="7">
                    <c:v>14</c:v>
                  </c:pt>
                  <c:pt idx="8">
                    <c:v>15</c:v>
                  </c:pt>
                  <c:pt idx="9">
                    <c:v>16</c:v>
                  </c:pt>
                  <c:pt idx="10">
                    <c:v>17</c:v>
                  </c:pt>
                  <c:pt idx="11">
                    <c:v>18</c:v>
                  </c:pt>
                  <c:pt idx="12">
                    <c:v>19</c:v>
                  </c:pt>
                  <c:pt idx="13">
                    <c:v>20</c:v>
                  </c:pt>
                  <c:pt idx="14">
                    <c:v>21</c:v>
                  </c:pt>
                  <c:pt idx="15">
                    <c:v>22</c:v>
                  </c:pt>
                  <c:pt idx="16">
                    <c:v>23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0</c:v>
                </c:pt>
                <c:pt idx="4">
                  <c:v>0</c:v>
                </c:pt>
                <c:pt idx="5">
                  <c:v>3.2</c:v>
                </c:pt>
                <c:pt idx="6">
                  <c:v>3</c:v>
                </c:pt>
                <c:pt idx="7">
                  <c:v>2.9</c:v>
                </c:pt>
                <c:pt idx="8">
                  <c:v>3.2</c:v>
                </c:pt>
                <c:pt idx="9">
                  <c:v>3</c:v>
                </c:pt>
                <c:pt idx="10">
                  <c:v>3</c:v>
                </c:pt>
                <c:pt idx="11">
                  <c:v>2.9</c:v>
                </c:pt>
                <c:pt idx="12">
                  <c:v>14.9</c:v>
                </c:pt>
                <c:pt idx="13">
                  <c:v>14.3</c:v>
                </c:pt>
                <c:pt idx="14">
                  <c:v>14.4</c:v>
                </c:pt>
                <c:pt idx="15">
                  <c:v>11.7</c:v>
                </c:pt>
                <c:pt idx="16">
                  <c:v>11.3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Ребёнок</c:v>
                </c:pt>
              </c:strCache>
            </c:strRef>
          </c:tx>
          <c:spPr>
            <a:solidFill>
              <a:srgbClr val="D6453D"/>
            </a:solidFill>
            <a:ln w="31750" cap="flat">
              <a:solidFill>
                <a:srgbClr val="D645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453D"/>
              </a:solidFill>
              <a:ln w="9525" cap="flat">
                <a:solidFill>
                  <a:srgbClr val="D645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7</c:v>
                  </c:pt>
                  <c:pt idx="1">
                    <c:v>8</c:v>
                  </c:pt>
                  <c:pt idx="2">
                    <c:v>9</c:v>
                  </c:pt>
                  <c:pt idx="3">
                    <c:v>10</c:v>
                  </c:pt>
                  <c:pt idx="4">
                    <c:v>11</c:v>
                  </c:pt>
                  <c:pt idx="5">
                    <c:v>12</c:v>
                  </c:pt>
                  <c:pt idx="6">
                    <c:v>13</c:v>
                  </c:pt>
                  <c:pt idx="7">
                    <c:v>14</c:v>
                  </c:pt>
                  <c:pt idx="8">
                    <c:v>15</c:v>
                  </c:pt>
                  <c:pt idx="9">
                    <c:v>16</c:v>
                  </c:pt>
                  <c:pt idx="10">
                    <c:v>17</c:v>
                  </c:pt>
                  <c:pt idx="11">
                    <c:v>18</c:v>
                  </c:pt>
                  <c:pt idx="12">
                    <c:v>19</c:v>
                  </c:pt>
                  <c:pt idx="13">
                    <c:v>20</c:v>
                  </c:pt>
                  <c:pt idx="14">
                    <c:v>21</c:v>
                  </c:pt>
                  <c:pt idx="15">
                    <c:v>22</c:v>
                  </c:pt>
                  <c:pt idx="16">
                    <c:v>23</c:v>
                  </c:pt>
                </c:lvl>
              </c:multiLvlStrCache>
            </c:multiLvl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3.9</c:v>
                </c:pt>
                <c:pt idx="3">
                  <c:v>4.3</c:v>
                </c:pt>
                <c:pt idx="4">
                  <c:v>3.9</c:v>
                </c:pt>
                <c:pt idx="5">
                  <c:v>4</c:v>
                </c:pt>
                <c:pt idx="6">
                  <c:v>3.9</c:v>
                </c:pt>
                <c:pt idx="7">
                  <c:v>11.4</c:v>
                </c:pt>
                <c:pt idx="8">
                  <c:v>11.7</c:v>
                </c:pt>
                <c:pt idx="9">
                  <c:v>11</c:v>
                </c:pt>
                <c:pt idx="10">
                  <c:v>11.4</c:v>
                </c:pt>
                <c:pt idx="11">
                  <c:v>11.5</c:v>
                </c:pt>
                <c:pt idx="12">
                  <c:v>15.4</c:v>
                </c:pt>
                <c:pt idx="13">
                  <c:v>3.8</c:v>
                </c:pt>
                <c:pt idx="14">
                  <c:v>3.8</c:v>
                </c:pt>
                <c:pt idx="15">
                  <c:v>0</c:v>
                </c:pt>
                <c:pt idx="16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8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720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Сегменты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A4BA0"/>
              </a:solidFill>
              <a:effectLst/>
            </c:spPr>
          </c:dPt>
          <c:dPt>
            <c:idx val="1"/>
            <c:bubble3D val="0"/>
            <c:spPr>
              <a:solidFill>
                <a:srgbClr val="8C8C8C"/>
              </a:solidFill>
              <a:effectLst/>
            </c:spPr>
          </c:dPt>
          <c:dPt>
            <c:idx val="2"/>
            <c:bubble3D val="0"/>
            <c:spPr>
              <a:solidFill>
                <a:srgbClr val="B7700F"/>
              </a:solidFill>
              <a:effectLst/>
            </c:spPr>
          </c:dPt>
          <c:dPt>
            <c:idx val="3"/>
            <c:bubble3D val="0"/>
            <c:spPr>
              <a:solidFill>
                <a:srgbClr val="1F8A5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Контролёр</c:v>
                </c:pt>
                <c:pt idx="1">
                  <c:v>Невидимый</c:v>
                </c:pt>
                <c:pt idx="2">
                  <c:v>Делегирующий</c:v>
                </c:pt>
                <c:pt idx="3">
                  <c:v>Соучастник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38</c:v>
                </c:pt>
                <c:pt idx="1">
                  <c:v>29</c:v>
                </c:pt>
                <c:pt idx="2">
                  <c:v>18</c:v>
                </c:pt>
                <c:pt idx="3">
                  <c:v>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720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7203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7203A"/>
                </a:solidFill>
                <a:latin typeface="Calibri"/>
              </a:rPr>
              <a:t>% родителей по неделям теста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Тест: open rate</c:v>
                </c:pt>
              </c:strCache>
            </c:strRef>
          </c:tx>
          <c:spPr>
            <a:solidFill>
              <a:srgbClr val="9FB3E6"/>
            </a:solidFill>
            <a:ln w="31750" cap="flat">
              <a:solidFill>
                <a:srgbClr val="9FB3E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FB3E6"/>
              </a:solidFill>
              <a:ln w="9525" cap="flat">
                <a:solidFill>
                  <a:srgbClr val="9FB3E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40.4</c:v>
                </c:pt>
                <c:pt idx="1">
                  <c:v>37.9</c:v>
                </c:pt>
                <c:pt idx="2">
                  <c:v>36.3</c:v>
                </c:pt>
                <c:pt idx="3">
                  <c:v>34.3</c:v>
                </c:pt>
                <c:pt idx="4">
                  <c:v>33.4</c:v>
                </c:pt>
                <c:pt idx="5">
                  <c:v>33.4</c:v>
                </c:pt>
                <c:pt idx="6">
                  <c:v>32.4</c:v>
                </c:pt>
                <c:pt idx="7">
                  <c:v>31.7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Тест: WAEP</c:v>
                </c:pt>
              </c:strCache>
            </c:strRef>
          </c:tx>
          <c:spPr>
            <a:solidFill>
              <a:srgbClr val="2A4BA0"/>
            </a:solidFill>
            <a:ln w="31750" cap="flat">
              <a:solidFill>
                <a:srgbClr val="2A4B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A4BA0"/>
              </a:solidFill>
              <a:ln w="9525" cap="flat">
                <a:solidFill>
                  <a:srgbClr val="2A4B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19.6</c:v>
                </c:pt>
                <c:pt idx="1">
                  <c:v>18.6</c:v>
                </c:pt>
                <c:pt idx="2">
                  <c:v>18.2</c:v>
                </c:pt>
                <c:pt idx="3">
                  <c:v>17.4</c:v>
                </c:pt>
                <c:pt idx="4">
                  <c:v>17.2</c:v>
                </c:pt>
                <c:pt idx="5">
                  <c:v>17.3</c:v>
                </c:pt>
                <c:pt idx="6">
                  <c:v>16.6</c:v>
                </c:pt>
                <c:pt idx="7">
                  <c:v>16.8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Контроль: WAEP</c:v>
                </c:pt>
              </c:strCache>
            </c:strRef>
          </c:tx>
          <c:spPr>
            <a:solidFill>
              <a:srgbClr val="8C8C8C"/>
            </a:solidFill>
            <a:ln w="31750" cap="flat">
              <a:solidFill>
                <a:srgbClr val="8C8C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8C8C8C"/>
              </a:solidFill>
              <a:ln w="9525" cap="flat">
                <a:solidFill>
                  <a:srgbClr val="8C8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6.3</c:v>
                </c:pt>
                <c:pt idx="1">
                  <c:v>6.2</c:v>
                </c:pt>
                <c:pt idx="2">
                  <c:v>6.2</c:v>
                </c:pt>
                <c:pt idx="3">
                  <c:v>6.2</c:v>
                </c:pt>
                <c:pt idx="4">
                  <c:v>5.8</c:v>
                </c:pt>
                <c:pt idx="5">
                  <c:v>6.3</c:v>
                </c:pt>
                <c:pt idx="6">
                  <c:v>5.9</c:v>
                </c:pt>
                <c:pt idx="7">
                  <c:v>5.9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8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6350" cap="flat">
              <a:solidFill>
                <a:srgbClr val="E3E8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720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7203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7203A"/>
                </a:solidFill>
                <a:latin typeface="Calibri"/>
              </a:rPr>
              <a:t>WAEP,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Контроль</c:v>
                </c:pt>
              </c:strCache>
            </c:strRef>
          </c:tx>
          <c:spPr>
            <a:solidFill>
              <a:srgbClr val="8C8C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720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Невидимый</c:v>
                  </c:pt>
                  <c:pt idx="1">
                    <c:v>Контролёр</c:v>
                  </c:pt>
                  <c:pt idx="2">
                    <c:v>Соучастник</c:v>
                  </c:pt>
                  <c:pt idx="3">
                    <c:v>Делегирующий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2.5</c:v>
                </c:pt>
                <c:pt idx="1">
                  <c:v>5.2</c:v>
                </c:pt>
                <c:pt idx="2">
                  <c:v>20.7</c:v>
                </c:pt>
                <c:pt idx="3">
                  <c:v>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Тест</c:v>
                </c:pt>
              </c:strCache>
            </c:strRef>
          </c:tx>
          <c:spPr>
            <a:solidFill>
              <a:srgbClr val="2A4BA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720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Невидимый</c:v>
                  </c:pt>
                  <c:pt idx="1">
                    <c:v>Контролёр</c:v>
                  </c:pt>
                  <c:pt idx="2">
                    <c:v>Соучастник</c:v>
                  </c:pt>
                  <c:pt idx="3">
                    <c:v>Делегирующий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11.1</c:v>
                </c:pt>
                <c:pt idx="1">
                  <c:v>16.9</c:v>
                </c:pt>
                <c:pt idx="2">
                  <c:v>46.3</c:v>
                </c:pt>
                <c:pt idx="3">
                  <c:v>5.6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720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20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720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7203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7203A"/>
                </a:solidFill>
                <a:latin typeface="Calibri"/>
              </a:rPr>
              <a:t>Недели, когда ребёнок упёрся в лимит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Конверсия за неделю, %</c:v>
                </c:pt>
              </c:strCache>
            </c:strRef>
          </c:tx>
          <c:spPr>
            <a:solidFill>
              <a:srgbClr val="B7700F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20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Ничего</c:v>
                  </c:pt>
                  <c:pt idx="1">
                    <c:v>Только пейвол</c:v>
                  </c:pt>
                  <c:pt idx="2">
                    <c:v>Объяснение в дайджесте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0.25</c:v>
                </c:pt>
                <c:pt idx="1">
                  <c:v>0.68</c:v>
                </c:pt>
                <c:pt idx="2">
                  <c:v>1.32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720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0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Тема: как превратить родителя на Учи.ру из наблюдателя в участника учёбы ребёнка. Покажу исследование, решение, прототип и результаты теста.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инсайт: метрики активности родителей по логинам завышены в разы. Без разделения родителя и ребёнка на входе вовлечение не измерить.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AF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VK · Учи.ру · Продуктовое discovery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Родитель на Учи.ру: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 наблюдателя в участника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Исследование, мини-сервис «Семейный пульс», прототип и система метрик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Анастасия Щугарева · продуктовый аналитик · сентябрь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Родитель платит, но его не видно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платформы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4B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 млн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214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учеников, около 10 млн активных в месяц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463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4B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6,2 млн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1214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родителей на платформе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463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70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в день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1214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бесплатных заданий после 16:00, дальше — подписка от 290 ₽ в месяц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0896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Кабинет родителя отвечает на вопрос «что происходит». </a:t>
            </a:r>
            <a:pPr indent="0" marL="0">
              <a:buNone/>
            </a:pPr>
            <a:r>
              <a:rPr lang="en-US" sz="15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вопрос «что мне с этим делать» — нет. Родитель смотрит график, закрывает приложение и возвращается, когда ребёнок упёрся в лимит и просит купить подписку.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VK, 01.09.2026; описание тарифов Учи.ру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Родитель на Учи.ру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аккаунте родителя сидит ребёнок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Классификатор сессий, обученный на пилоте PIN-входа, ROC-AUC 0,93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4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756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входов в родительский аккаунт делает ребёнок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432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4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015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минут в родительском аккаунте — тоже ребёнок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91840" y="1325880"/>
          <a:ext cx="53949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39776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Ребёнок заходит после школы и решает задания. Родитель — после 19:00, на пару минут, смотрит статистику.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Родитель на Учи.ру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родителя с разными задачами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по поведению за 4 недели до теста · Jobs to be Done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280160"/>
          <a:ext cx="3017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566160" y="132588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703320" y="14356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4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Контролёр  </a:t>
            </a:r>
            <a:pPr indent="0" marL="0">
              <a:buNone/>
            </a:pPr>
            <a:r>
              <a:rPr lang="en-US" sz="14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703320" y="1783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«Хочу узнать, где проседает, до того как придёт двойка»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7920" y="132588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5080" y="14356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Невидимый  </a:t>
            </a:r>
            <a:pPr indent="0" marL="0">
              <a:buNone/>
            </a:pPr>
            <a:r>
              <a:rPr lang="en-US" sz="14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1783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«Хочу за минуту понять, всё ли в порядке, и не чувствовать вину»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66160" y="297180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703320" y="3081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7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Делегирующий  </a:t>
            </a:r>
            <a:pPr indent="0" marL="0">
              <a:buNone/>
            </a:pPr>
            <a:r>
              <a:rPr lang="en-US" sz="14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703320" y="3429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«Хочу, чтобы ребёнок занимался сам и меня не дёргал»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297180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55080" y="3081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Соучастник  </a:t>
            </a:r>
            <a:pPr indent="0" marL="0">
              <a:buNone/>
            </a:pPr>
            <a:r>
              <a:rPr lang="en-US" sz="14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355080" y="3429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«Хочу заниматься вместе и не превращать это в войну»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Родитель на Учи.ру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родитель теряется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родителя сейчас: три разрыва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499616" cy="1737360"/>
          </a:xfrm>
          <a:prstGeom prst="roundRect">
            <a:avLst>
              <a:gd name="adj" fmla="val 487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A4BA0"/>
          </a:solidFill>
          <a:ln w="12700">
            <a:solidFill>
              <a:srgbClr val="2A4B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54203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коду учителя с собрания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39696" y="1554480"/>
            <a:ext cx="1499616" cy="1737360"/>
          </a:xfrm>
          <a:prstGeom prst="roundRect">
            <a:avLst>
              <a:gd name="adj" fmla="val 487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76856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A4BA0"/>
          </a:solidFill>
          <a:ln w="12700">
            <a:solidFill>
              <a:srgbClr val="2A4B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76856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 просмотров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276856" y="254203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статистики ребёнка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22192" y="1554480"/>
            <a:ext cx="1499616" cy="1737360"/>
          </a:xfrm>
          <a:prstGeom prst="roundRect">
            <a:avLst>
              <a:gd name="adj" fmla="val 4878"/>
            </a:avLst>
          </a:prstGeom>
          <a:solidFill>
            <a:srgbClr val="FBEBD2"/>
          </a:solidFill>
          <a:ln w="12700">
            <a:solidFill>
              <a:srgbClr val="B7700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59352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7700F"/>
          </a:solidFill>
          <a:ln w="12700">
            <a:solidFill>
              <a:srgbClr val="B7700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59352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959352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Забыл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959352" y="254203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повода вернуться; ребёнок заходит с его телефона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04688" y="1554480"/>
            <a:ext cx="1499616" cy="1737360"/>
          </a:xfrm>
          <a:prstGeom prst="roundRect">
            <a:avLst>
              <a:gd name="adj" fmla="val 487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4184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A4BA0"/>
          </a:solidFill>
          <a:ln w="12700">
            <a:solidFill>
              <a:srgbClr val="2A4BA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41848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41848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641848" y="254203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ребёнок упёрся в 20 заданий и просит купить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87184" y="1554480"/>
            <a:ext cx="1499616" cy="1737360"/>
          </a:xfrm>
          <a:prstGeom prst="roundRect">
            <a:avLst>
              <a:gd name="adj" fmla="val 4878"/>
            </a:avLst>
          </a:prstGeom>
          <a:solidFill>
            <a:srgbClr val="FBEBD2"/>
          </a:solidFill>
          <a:ln w="12700">
            <a:solidFill>
              <a:srgbClr val="B7700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24344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7700F"/>
          </a:solidFill>
          <a:ln w="12700">
            <a:solidFill>
              <a:srgbClr val="B7700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24344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24344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Пейвол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324344" y="254203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объяснения, зачем платить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7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Разрывы: </a:t>
            </a:r>
            <a:pPr indent="0" marL="0">
              <a:buNone/>
            </a:pPr>
            <a:r>
              <a:rPr lang="en-US" sz="15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повода вернуться · родитель и ребёнок перепутаны под одним логином · лимит без контекста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Родитель на Учи.ру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Решение: «Семейный пульс»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Воскресный дайджест на три минуты и одно дело в один тап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320040"/>
            <a:ext cx="2697480" cy="43799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71600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DCE4F7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37160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20:00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37160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в воскресенье: «Итоги недели Маши готовы»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029968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DCE4F7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202996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202996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«Кто открывает?» — родитель по PIN, ребёнок в своё приложение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688336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DCE4F7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26883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факта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600200" y="268833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заданий, что получается, где трудно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346704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DCE4F7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334670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дело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600200" y="334670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похвала, задание на 10 минут вместе или цель на неделю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4005072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DCE4F7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" y="400507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400507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«Маша 4 раза упиралась в лимит» и 7 дней без лимита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Родитель на Учи.ру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Прототип работает и пишет события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HTML-файл, разворачивается на GitHub Pages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2011680" cy="335584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280160"/>
            <a:ext cx="4901184" cy="33101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726680" y="1280160"/>
            <a:ext cx="1143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Справа от телефона — воронка недели и журнал событий: видно, как каждое нажатие попадает в трекинг и засчитывается ли семья в WAEP. Переключатель показывает сводку для семьи из каждого сегмента.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Родитель на Учи.ру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дайджест, а не чат с учителем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идей, оценка ICE от 1 до 10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02920"/>
                <a:gridCol w="502920"/>
                <a:gridCol w="502920"/>
                <a:gridCol w="731520"/>
                <a:gridCol w="3063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6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Идея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6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6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6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6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6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Решение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PIN-вход родителя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фундамент, первый шаг сервиса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A4B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Дайджест с одним действием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A4B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A4B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ядро сервиса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Чат родителя с учителем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нагрузка на учителей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Курс «Как помогать с уроками»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Невидимые не дойдут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Геймификация для родителя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риск раздражения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Родитель на Учи.ру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Star: родитель что-то сделал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WAEP — Weekly Actively Engaged Parents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17203A"/>
          </a:solidFill>
          <a:ln w="12700">
            <a:solidFill>
              <a:srgbClr val="1720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WAEP</a:t>
            </a:r>
            <a:endParaRPr lang="en-US" sz="3000" dirty="0"/>
          </a:p>
          <a:p>
            <a:pPr indent="0" marL="0">
              <a:buNone/>
            </a:pPr>
            <a:r>
              <a:rPr lang="en-US" sz="1400" dirty="0">
                <a:solidFill>
                  <a:srgbClr val="D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родителей, которые за неделю хотя бы раз похвалили ребёнка, поставили цель или сделали задание вместе.</a:t>
            </a:r>
            <a:endParaRPr lang="en-US" sz="3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000" dirty="0"/>
          </a:p>
          <a:p>
            <a:pPr indent="0" marL="0">
              <a:buNone/>
            </a:pPr>
            <a:r>
              <a:rPr lang="en-US" sz="1300" i="1" dirty="0">
                <a:solidFill>
                  <a:srgbClr val="AF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статистики не считается: это наблюдение, а не участие.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3716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4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Входные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715000" y="1371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охват → вход по PIN → open rate → конверсия в действие → удержание 3 из 4 недель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157984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Ребёнок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157984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 в неделю, активные дни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944368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77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Деньги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715000" y="29443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конверсия в подписку, выручка на семью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373075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6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715000" y="373075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отписки &lt; 10%, задания ребёнка не ниже контроля, сессии ребёнка в аккаунте родителя не растут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Родитель на Учи.ру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WAEP вырос почти в три раза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A/B-тест: 40 000 семей, 50/50, 8 недель · SRM p = 0,83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0" y="1371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4B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6,1 → 17,7%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20299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WAEP за 8 недель, +11,6 п.п., 95% ДИ +11,3…+12,0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2788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 → 7,0%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344728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родителей вовлечены 3 недели из 4 последних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Родитель на Учи.ру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Кому помогает и что получает ребёнок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Прирост WAEP по сегментам и эффект на учёбу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48463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0" y="1371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+1,7%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0" y="20299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заданий ребёнка в неделю (CUPED, p &lt; 0,001)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2651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+3,8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33101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 в неделю, если родитель действует каждую неделю (IV). Наивная корреляция — в 8 раз больше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0" y="4069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77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Делегирующим дайджест почти не нужен — им нужен отдельный вход ребёнка.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Родитель на Учи.ру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Контекст продаёт лучше пейвола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Конверсия и оценка выручки при раскатке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45720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749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внутри тестовой группы, без рандомизации — нужен отдельный тест.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303520" y="1325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4B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+0,7 п.п.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303520" y="198424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конверсия в подписку за 8 недель: 2,2% → 3,0%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303520" y="2514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4B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≈99 млн ₽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31729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дополнительной выручки за 8 недель, диапазон 55–144 млн ₽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303520" y="3794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Допущения: 6,2 млн родителей, 60% доступны для рассылки, годовая подписка 4 000 ₽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Родитель на Учи.ру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Риски и что дальше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держать под контролем после раскатки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6453D"/>
          </a:solidFill>
          <a:ln w="12700">
            <a:solidFill>
              <a:srgbClr val="D64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258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Отписки 9,3%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10%, запас маленький. «Присылать реже» — первым пунктом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7700F"/>
          </a:solidFill>
          <a:ln w="12700">
            <a:solidFill>
              <a:srgbClr val="B7700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148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Новизна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rate падает с 40% до 32%. Holdout 5% на полгода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A4BA0"/>
          </a:solidFill>
          <a:ln w="12700">
            <a:solidFill>
              <a:srgbClr val="2A4BA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9718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Интервью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 разговоров с родителями по сегментам перед раскаткой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F8A5B"/>
          </a:solidFill>
          <a:ln w="12700">
            <a:solidFill>
              <a:srgbClr val="1F8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7947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Этика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160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похвала и цели не превращаются в контроль, без сравнения с другими детьми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32588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Дорожная карта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19659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4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Сразу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897880" y="1965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раскатка на всех, holdout 5%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25877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4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месяц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897880" y="25877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для Делегирующих: вход ребёнка по ссылке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800600" y="320954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4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месяца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897880" y="320954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рандомизированный тест карточки лимита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800600" y="383133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4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месяца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897880" y="383133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персональный день и время дайджеста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Родитель на Учи.ру ·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AF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Раскатываем «Семейный пульс» на всех родителей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WAEP ×2,9 · задания ребёнка +1,7% · конверсия +0,7 п.п.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контролем: отписки &lt; 10%, holdout 5%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репозитории: отчёт PDF · Jupyter-ноутбук с анализом · данные · прототип · эта презентация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Родитель на Учи.ру: из наблюдателя в участника</dc:title>
  <dc:subject>PptxGenJS Presentation</dc:subject>
  <dc:creator>Анастасия Щугарева</dc:creator>
  <cp:lastModifiedBy>Анастасия Щугарева</cp:lastModifiedBy>
  <cp:revision>1</cp:revision>
  <dcterms:created xsi:type="dcterms:W3CDTF">2026-09-30T15:26:08Z</dcterms:created>
  <dcterms:modified xsi:type="dcterms:W3CDTF">2026-09-30T15:26:08Z</dcterms:modified>
</cp:coreProperties>
</file>